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79" r:id="rId3"/>
    <p:sldId id="278" r:id="rId4"/>
    <p:sldId id="262" r:id="rId5"/>
    <p:sldId id="270" r:id="rId6"/>
    <p:sldId id="271" r:id="rId7"/>
    <p:sldId id="272" r:id="rId8"/>
    <p:sldId id="273" r:id="rId9"/>
    <p:sldId id="282" r:id="rId10"/>
    <p:sldId id="283" r:id="rId11"/>
    <p:sldId id="285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269" r:id="rId22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609" autoAdjust="0"/>
    <p:restoredTop sz="86465" autoAdjust="0"/>
  </p:normalViewPr>
  <p:slideViewPr>
    <p:cSldViewPr>
      <p:cViewPr>
        <p:scale>
          <a:sx n="75" d="100"/>
          <a:sy n="75" d="100"/>
        </p:scale>
        <p:origin x="1085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3289C16-E3AF-4709-A8D7-5471B9F926FC}" type="datetimeFigureOut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84F8D675-26D7-4C59-9B02-8C87B2C4A4D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/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AE1A099-76B6-4D23-B2E0-23424D8B3ECA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B21D6CD-6CAB-47EA-AAE9-76F1924A71AB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B21D6CD-6CAB-47EA-AAE9-76F1924A71AB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B21D6CD-6CAB-47EA-AAE9-76F1924A71AB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14E8A-F9B4-4BF0-A38A-1EDB29CF66A2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7DD0AF-21D5-4A34-A7F3-14676811A1F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3FBA50-8D97-479A-8C46-710932173E56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85E80B-45E5-41D1-8ACA-BDB8532EE26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D394F-FC70-401E-A7D1-1D6A5AC6C3E3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F3FE1-4EEA-432C-83EF-7043291A71F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D3CCF-C250-45AE-8F56-B150D275732C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F7F5EB-862E-46B3-AB48-075A949E6EC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2F334-5588-4B87-89B1-894FF0BD3713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786AD-9BE9-4FE8-B201-2A21B1BFC9B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8E66-F520-430D-AE68-FBA1933B8FBF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F7B23-E55C-42AC-8B03-B1A3FD785A7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2CE220-A86E-4E5B-B868-5CAD3019A18C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44001-F388-4973-B69B-79001C07071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E2818-410C-47B7-B54B-AF1620EA5CC8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3F40E-D8FB-4E71-8AB9-DCAA9DF9432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95D07-2CD9-4A49-A1AE-D77078E890D7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896D6-13D9-4491-A016-07EDFEFA5C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4498F-E4A1-472C-942A-B3DC08B1C567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980B0-EB45-445E-869F-5B8C02FE674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281DD-D4D1-4A86-98A9-54BF47F1C98A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F3E37-59C0-4503-B463-5A85212D470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2B65D0E-1465-4829-A9F5-DE2DEDDE6785}" type="datetime1">
              <a:rPr lang="ko-KR" altLang="en-US"/>
              <a:pPr>
                <a:defRPr/>
              </a:pPr>
              <a:t>2018-09-07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8FEBB99-674F-4E43-AE82-A7E8CA7B89E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naver.com/ryuff88/220123797788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90775"/>
            <a:ext cx="7772400" cy="147002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ko-KR" b="1" dirty="0">
                <a:latin typeface="+mn-ea"/>
                <a:ea typeface="+mn-ea"/>
              </a:rPr>
              <a:t>IT </a:t>
            </a:r>
            <a:r>
              <a:rPr lang="ko-KR" altLang="en-US" b="1" dirty="0">
                <a:latin typeface="+mn-ea"/>
                <a:ea typeface="+mn-ea"/>
              </a:rPr>
              <a:t>역량 포트폴리오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700213" y="4340225"/>
            <a:ext cx="6400800" cy="1752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altLang="ko-KR" dirty="0">
              <a:latin typeface="+mn-ea"/>
            </a:endParaRPr>
          </a:p>
          <a:p>
            <a:pPr algn="r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ko-KR" sz="2500" b="1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 algn="r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ko-KR" altLang="en-US" sz="2200" b="1" dirty="0">
                <a:solidFill>
                  <a:schemeClr val="tx1"/>
                </a:solidFill>
                <a:latin typeface="+mn-ea"/>
              </a:rPr>
              <a:t>지원자 박헌일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ko-KR" altLang="en-US" b="1" dirty="0">
                <a:latin typeface="+mn-ea"/>
                <a:ea typeface="+mn-ea"/>
              </a:rPr>
              <a:t>포트폴리오 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8313" y="1341438"/>
            <a:ext cx="8229600" cy="4525962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None/>
              <a:defRPr/>
            </a:pPr>
            <a:endParaRPr lang="en-US" altLang="ko-KR" dirty="0">
              <a:latin typeface="+mn-ea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ea"/>
              </a:rPr>
              <a:t>1. </a:t>
            </a:r>
            <a:r>
              <a:rPr lang="ko-KR" altLang="en-US" dirty="0">
                <a:latin typeface="+mn-ea"/>
              </a:rPr>
              <a:t>스마트 옷장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캡스톤</a:t>
            </a:r>
            <a:r>
              <a:rPr lang="ko-KR" altLang="en-US" dirty="0">
                <a:latin typeface="+mn-ea"/>
              </a:rPr>
              <a:t> 디자인</a:t>
            </a:r>
            <a:r>
              <a:rPr lang="en-US" altLang="ko-KR" dirty="0">
                <a:latin typeface="+mn-ea"/>
              </a:rPr>
              <a:t>)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ko-KR" dirty="0">
              <a:latin typeface="+mn-ea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ea"/>
              </a:rPr>
              <a:t>2. </a:t>
            </a:r>
            <a:r>
              <a:rPr lang="ko-KR" altLang="en-US" dirty="0">
                <a:latin typeface="+mn-ea"/>
              </a:rPr>
              <a:t>게임 프로젝트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프로그램 아카데미</a:t>
            </a:r>
            <a:r>
              <a:rPr lang="en-US" altLang="ko-KR" dirty="0">
                <a:latin typeface="+mn-ea"/>
              </a:rPr>
              <a:t>)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dirty="0">
                <a:latin typeface="+mn-ea"/>
              </a:rPr>
              <a:t>Q&amp;A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A6CADF-226A-4357-86A9-511FBEC4DBB5}" type="slidenum">
              <a:rPr lang="ko-KR" altLang="en-US"/>
              <a:pPr>
                <a:defRPr/>
              </a:pPr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스마트 옷장 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8313" y="1341438"/>
            <a:ext cx="8229600" cy="452596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None/>
              <a:defRPr/>
            </a:pP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dirty="0">
                <a:latin typeface="+mn-ea"/>
              </a:rPr>
              <a:t>개발 배경</a:t>
            </a: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dirty="0">
                <a:latin typeface="+mn-ea"/>
              </a:rPr>
              <a:t>소개</a:t>
            </a: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None/>
              <a:defRPr/>
            </a:pPr>
            <a:endParaRPr lang="en-US" altLang="ko-KR" dirty="0">
              <a:latin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A6CADF-226A-4357-86A9-511FBEC4DBB5}" type="slidenum">
              <a:rPr lang="ko-KR" altLang="en-US"/>
              <a:pPr>
                <a:defRPr/>
              </a:pPr>
              <a:t>3</a:t>
            </a:fld>
            <a:endParaRPr lang="ko-KR" altLang="en-US" dirty="0"/>
          </a:p>
        </p:txBody>
      </p:sp>
      <p:pic>
        <p:nvPicPr>
          <p:cNvPr id="307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32363" y="1700213"/>
            <a:ext cx="3027362" cy="427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ko-KR" altLang="en-US" dirty="0">
                <a:latin typeface="+mn-ea"/>
                <a:ea typeface="+mn-ea"/>
              </a:rPr>
              <a:t>개발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188" y="1484313"/>
            <a:ext cx="4824412" cy="90344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+mn-ea"/>
                <a:ea typeface="+mn-ea"/>
              </a:rPr>
              <a:t>   </a:t>
            </a: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+mn-ea"/>
                <a:ea typeface="+mn-ea"/>
              </a:rPr>
              <a:t>현대인들의 바쁜 생활로 </a:t>
            </a: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+mn-ea"/>
                <a:ea typeface="+mn-ea"/>
              </a:rPr>
              <a:t>부가적인 </a:t>
            </a:r>
            <a:r>
              <a:rPr kumimoji="0" lang="ko-KR" altLang="en-US" dirty="0">
                <a:solidFill>
                  <a:srgbClr val="FF0000"/>
                </a:solidFill>
                <a:latin typeface="+mn-ea"/>
                <a:ea typeface="+mn-ea"/>
              </a:rPr>
              <a:t>자기관리를 소홀</a:t>
            </a:r>
            <a:r>
              <a:rPr kumimoji="0" lang="ko-KR" altLang="en-US" dirty="0">
                <a:latin typeface="+mn-ea"/>
                <a:ea typeface="+mn-ea"/>
              </a:rPr>
              <a:t>히 하게 됨</a:t>
            </a: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+mn-ea"/>
                <a:ea typeface="+mn-ea"/>
              </a:rPr>
              <a:t>현대인들은 </a:t>
            </a: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+mn-ea"/>
                <a:ea typeface="+mn-ea"/>
              </a:rPr>
              <a:t>자신을 꾸미는 욕구가 높아짐 </a:t>
            </a: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     </a:t>
            </a:r>
            <a:r>
              <a:rPr kumimoji="0"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kumimoji="0" lang="ko-KR" altLang="en-US" sz="2000" dirty="0">
                <a:solidFill>
                  <a:srgbClr val="FF0000"/>
                </a:solidFill>
                <a:latin typeface="+mn-ea"/>
                <a:ea typeface="+mn-ea"/>
              </a:rPr>
              <a:t>의류에 대한 관심이 많아짐</a:t>
            </a:r>
            <a:endParaRPr kumimoji="0" lang="en-US" altLang="ko-KR" sz="2000" dirty="0">
              <a:solidFill>
                <a:srgbClr val="FF0000"/>
              </a:solidFill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+mn-ea"/>
                <a:ea typeface="+mn-ea"/>
              </a:rPr>
              <a:t>하지만</a:t>
            </a:r>
            <a:r>
              <a:rPr kumimoji="0" lang="en-US" altLang="ko-KR" dirty="0">
                <a:latin typeface="+mn-ea"/>
                <a:ea typeface="+mn-ea"/>
              </a:rPr>
              <a:t>, </a:t>
            </a:r>
            <a:r>
              <a:rPr kumimoji="0" lang="ko-KR" altLang="en-US" dirty="0">
                <a:latin typeface="+mn-ea"/>
                <a:ea typeface="+mn-ea"/>
              </a:rPr>
              <a:t>의류에 대한 관리소홀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+mn-ea"/>
                <a:ea typeface="+mn-ea"/>
              </a:rPr>
              <a:t>옷장 안의 버리는 옷이 많아짐 </a:t>
            </a: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+mn-ea"/>
                <a:ea typeface="+mn-ea"/>
              </a:rPr>
              <a:t>개인이 의류를 관리 못해 </a:t>
            </a:r>
            <a:r>
              <a:rPr kumimoji="0" lang="en-US" altLang="ko-KR" dirty="0">
                <a:latin typeface="+mn-ea"/>
                <a:ea typeface="+mn-ea"/>
              </a:rPr>
              <a:t>(</a:t>
            </a:r>
            <a:r>
              <a:rPr kumimoji="0" lang="ko-KR" altLang="en-US" dirty="0">
                <a:latin typeface="+mn-ea"/>
                <a:ea typeface="+mn-ea"/>
              </a:rPr>
              <a:t>기억력</a:t>
            </a:r>
            <a:r>
              <a:rPr kumimoji="0" lang="en-US" altLang="ko-KR" dirty="0">
                <a:latin typeface="+mn-ea"/>
                <a:ea typeface="+mn-ea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+mn-ea"/>
                <a:ea typeface="+mn-ea"/>
              </a:rPr>
              <a:t>한 해 버려지는 의류만 </a:t>
            </a:r>
            <a:r>
              <a:rPr kumimoji="0" lang="en-US" altLang="ko-KR" sz="2100" dirty="0">
                <a:solidFill>
                  <a:srgbClr val="FF0000"/>
                </a:solidFill>
                <a:latin typeface="+mn-ea"/>
                <a:ea typeface="+mn-ea"/>
              </a:rPr>
              <a:t>6</a:t>
            </a:r>
            <a:r>
              <a:rPr kumimoji="0" lang="ko-KR" altLang="en-US" sz="2100" dirty="0">
                <a:solidFill>
                  <a:srgbClr val="FF0000"/>
                </a:solidFill>
                <a:latin typeface="+mn-ea"/>
                <a:ea typeface="+mn-ea"/>
              </a:rPr>
              <a:t>만 톤 </a:t>
            </a:r>
            <a:r>
              <a:rPr kumimoji="0" lang="ko-KR" altLang="en-US" dirty="0">
                <a:latin typeface="+mn-ea"/>
                <a:ea typeface="+mn-ea"/>
              </a:rPr>
              <a:t>이</a:t>
            </a:r>
            <a:r>
              <a:rPr kumimoji="0" lang="ko-KR" altLang="en-US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kumimoji="0" lang="ko-KR" altLang="en-US" dirty="0">
                <a:latin typeface="+mn-ea"/>
                <a:ea typeface="+mn-ea"/>
              </a:rPr>
              <a:t>넘음</a:t>
            </a: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rgbClr val="FF0000"/>
                </a:solidFill>
                <a:latin typeface="+mn-ea"/>
                <a:ea typeface="+mn-ea"/>
              </a:rPr>
              <a:t>스마트 홈</a:t>
            </a:r>
            <a:r>
              <a:rPr kumimoji="0" lang="ko-KR" altLang="en-US" dirty="0">
                <a:latin typeface="+mn-ea"/>
                <a:ea typeface="+mn-ea"/>
              </a:rPr>
              <a:t>의 발전 </a:t>
            </a:r>
            <a:r>
              <a:rPr kumimoji="0" lang="en-US" altLang="ko-KR" dirty="0">
                <a:latin typeface="+mn-ea"/>
                <a:ea typeface="+mn-ea"/>
              </a:rPr>
              <a:t>- </a:t>
            </a:r>
            <a:r>
              <a:rPr kumimoji="0" lang="ko-KR" altLang="en-US" dirty="0">
                <a:latin typeface="+mn-ea"/>
                <a:ea typeface="+mn-ea"/>
              </a:rPr>
              <a:t>옷장에 대한 발전이 필요</a:t>
            </a: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+mn-ea"/>
                <a:ea typeface="+mn-ea"/>
              </a:rPr>
              <a:t>어플리케이션 상품 개발</a:t>
            </a: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>
                <a:latin typeface="+mn-ea"/>
                <a:ea typeface="+mn-ea"/>
              </a:rPr>
              <a:t>                             + </a:t>
            </a:r>
            <a:r>
              <a:rPr kumimoji="0" lang="ko-KR" altLang="en-US" dirty="0">
                <a:latin typeface="+mn-ea"/>
                <a:ea typeface="+mn-ea"/>
              </a:rPr>
              <a:t>패션 의류 분야</a:t>
            </a:r>
            <a:endParaRPr kumimoji="0" lang="en-US" altLang="ko-KR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>
                <a:latin typeface="HY헤드라인M" pitchFamily="18" charset="-127"/>
                <a:ea typeface="HY헤드라인M" pitchFamily="18" charset="-127"/>
              </a:rPr>
              <a:t>            </a:t>
            </a:r>
            <a:r>
              <a:rPr kumimoji="0" lang="ko-KR" altLang="en-US" dirty="0">
                <a:latin typeface="HY헤드라인M" pitchFamily="18" charset="-127"/>
                <a:ea typeface="HY헤드라인M" pitchFamily="18" charset="-127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+mn-lt"/>
              <a:ea typeface="+mn-ea"/>
            </a:endParaRPr>
          </a:p>
        </p:txBody>
      </p:sp>
      <p:pic>
        <p:nvPicPr>
          <p:cNvPr id="512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263" y="1989138"/>
            <a:ext cx="3424237" cy="324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F8DA4A-00F2-41EA-A909-6BC18592DC10}" type="slidenum">
              <a:rPr lang="ko-KR" altLang="en-US"/>
              <a:pPr>
                <a:defRPr/>
              </a:pPr>
              <a:t>4</a:t>
            </a:fld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940425" y="5661025"/>
            <a:ext cx="1223963" cy="647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solidFill>
                  <a:schemeClr val="tx1"/>
                </a:solidFill>
                <a:latin typeface="+mn-ea"/>
              </a:rPr>
              <a:t>융 합</a:t>
            </a:r>
          </a:p>
        </p:txBody>
      </p:sp>
      <p:sp>
        <p:nvSpPr>
          <p:cNvPr id="10" name="오른쪽 화살표 9"/>
          <p:cNvSpPr/>
          <p:nvPr/>
        </p:nvSpPr>
        <p:spPr>
          <a:xfrm>
            <a:off x="5508625" y="5805488"/>
            <a:ext cx="358775" cy="28733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" name="직사각형 13">
            <a:hlinkClick r:id="rId3"/>
          </p:cNvPr>
          <p:cNvSpPr/>
          <p:nvPr/>
        </p:nvSpPr>
        <p:spPr>
          <a:xfrm>
            <a:off x="2987675" y="4581525"/>
            <a:ext cx="720725" cy="287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ko-KR" altLang="en-US" dirty="0">
                <a:latin typeface="+mn-ea"/>
                <a:ea typeface="+mn-ea"/>
              </a:rPr>
              <a:t>소개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4031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ko-KR" dirty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grpSp>
        <p:nvGrpSpPr>
          <p:cNvPr id="7172" name="그룹 8"/>
          <p:cNvGrpSpPr>
            <a:grpSpLocks/>
          </p:cNvGrpSpPr>
          <p:nvPr/>
        </p:nvGrpSpPr>
        <p:grpSpPr bwMode="auto">
          <a:xfrm>
            <a:off x="-36513" y="1439863"/>
            <a:ext cx="9072563" cy="5421312"/>
            <a:chOff x="219740" y="1124744"/>
            <a:chExt cx="8676456" cy="5517232"/>
          </a:xfrm>
        </p:grpSpPr>
        <p:pic>
          <p:nvPicPr>
            <p:cNvPr id="7175" name="그림 9" descr="C:\Users\CaptainSlow\Desktop\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19740" y="1124744"/>
              <a:ext cx="8676456" cy="5517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6" name="그림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7544" y="5201030"/>
              <a:ext cx="3312368" cy="137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7" name="그림 1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99592" y="3861048"/>
              <a:ext cx="2433217" cy="1512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그림 1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004692" y="4174990"/>
              <a:ext cx="2739752" cy="18978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" name="내용 개체 틀 4"/>
          <p:cNvSpPr txBox="1">
            <a:spLocks/>
          </p:cNvSpPr>
          <p:nvPr/>
        </p:nvSpPr>
        <p:spPr>
          <a:xfrm>
            <a:off x="755650" y="1168400"/>
            <a:ext cx="8229600" cy="7477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kumimoji="0" lang="ko-KR" altLang="en-US" sz="1700" dirty="0">
                <a:latin typeface="+mn-ea"/>
                <a:ea typeface="+mn-ea"/>
              </a:rPr>
              <a:t>스마트 옷장  소개     </a:t>
            </a:r>
            <a:r>
              <a:rPr kumimoji="0" lang="ko-KR" altLang="en-US" sz="1700" dirty="0">
                <a:solidFill>
                  <a:srgbClr val="FF0000"/>
                </a:solidFill>
                <a:latin typeface="+mn-ea"/>
                <a:ea typeface="+mn-ea"/>
              </a:rPr>
              <a:t>스마트 옷장 시스템 구성     </a:t>
            </a:r>
            <a:r>
              <a:rPr kumimoji="0" lang="ko-KR" altLang="en-US" sz="1700" dirty="0">
                <a:latin typeface="+mn-ea"/>
                <a:ea typeface="+mn-ea"/>
              </a:rPr>
              <a:t>스마트 옷장 어플리케이션 기능    </a:t>
            </a: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71786C-4BF7-4B0E-9331-5B5BD82E603D}" type="slidenum">
              <a:rPr lang="ko-KR" altLang="en-US"/>
              <a:pPr>
                <a:defRPr/>
              </a:pPr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ko-KR" altLang="en-US" dirty="0">
                <a:latin typeface="+mn-ea"/>
                <a:ea typeface="+mn-ea"/>
              </a:rPr>
              <a:t>소개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4031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ko-KR" dirty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grpSp>
        <p:nvGrpSpPr>
          <p:cNvPr id="9220" name="그룹 23"/>
          <p:cNvGrpSpPr>
            <a:grpSpLocks/>
          </p:cNvGrpSpPr>
          <p:nvPr/>
        </p:nvGrpSpPr>
        <p:grpSpPr bwMode="auto">
          <a:xfrm>
            <a:off x="827088" y="1557338"/>
            <a:ext cx="7489825" cy="4895850"/>
            <a:chOff x="683568" y="952178"/>
            <a:chExt cx="7776864" cy="5040560"/>
          </a:xfrm>
        </p:grpSpPr>
        <p:pic>
          <p:nvPicPr>
            <p:cNvPr id="9223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83568" y="980728"/>
              <a:ext cx="3009900" cy="50120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직사각형 25"/>
            <p:cNvSpPr/>
            <p:nvPr/>
          </p:nvSpPr>
          <p:spPr>
            <a:xfrm>
              <a:off x="683568" y="952178"/>
              <a:ext cx="3024702" cy="4968645"/>
            </a:xfrm>
            <a:prstGeom prst="rect">
              <a:avLst/>
            </a:prstGeom>
            <a:noFill/>
            <a:ln cmpd="sng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922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139952" y="1240210"/>
              <a:ext cx="1666875" cy="561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26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139952" y="2886100"/>
              <a:ext cx="1666875" cy="514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27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139952" y="4413126"/>
              <a:ext cx="1666875" cy="571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" name="직사각형 29"/>
            <p:cNvSpPr/>
            <p:nvPr/>
          </p:nvSpPr>
          <p:spPr>
            <a:xfrm>
              <a:off x="4212662" y="1888702"/>
              <a:ext cx="4247770" cy="862975"/>
            </a:xfrm>
            <a:prstGeom prst="rect">
              <a:avLst/>
            </a:prstGeom>
            <a:solidFill>
              <a:schemeClr val="bg1"/>
            </a:solidFill>
            <a:ln cmpd="sng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dirty="0">
                  <a:solidFill>
                    <a:schemeClr val="tx1"/>
                  </a:solidFill>
                  <a:latin typeface="+mn-ea"/>
                </a:rPr>
                <a:t>의류를 데이터베이스에 사진과 의류의 </a:t>
              </a:r>
              <a:endParaRPr kumimoji="0" lang="en-US" altLang="ko-KR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dirty="0">
                  <a:solidFill>
                    <a:schemeClr val="tx1"/>
                  </a:solidFill>
                  <a:latin typeface="+mn-ea"/>
                </a:rPr>
                <a:t>특성을</a:t>
              </a:r>
              <a:r>
                <a:rPr kumimoji="0" lang="en-US" altLang="ko-KR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kumimoji="0" lang="ko-KR" altLang="en-US" dirty="0">
                  <a:solidFill>
                    <a:schemeClr val="tx1"/>
                  </a:solidFill>
                  <a:latin typeface="+mn-ea"/>
                </a:rPr>
                <a:t>저장하고 검색할 수 있으며 </a:t>
              </a:r>
              <a:endParaRPr kumimoji="0" lang="en-US" altLang="ko-KR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dirty="0">
                  <a:solidFill>
                    <a:schemeClr val="tx1"/>
                  </a:solidFill>
                  <a:latin typeface="+mn-ea"/>
                </a:rPr>
                <a:t>의류를 체계적으로 관리하는 기능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212662" y="3472458"/>
              <a:ext cx="4247770" cy="864609"/>
            </a:xfrm>
            <a:prstGeom prst="rect">
              <a:avLst/>
            </a:prstGeom>
            <a:solidFill>
              <a:schemeClr val="bg1"/>
            </a:solidFill>
            <a:ln cmpd="sng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dirty="0">
                  <a:solidFill>
                    <a:schemeClr val="tx1"/>
                  </a:solidFill>
                  <a:latin typeface="+mn-ea"/>
                </a:rPr>
                <a:t>옷의 냄새를 제거하기 위해서 스마트 폰 어플리케이션으로 원격 제어하는 기능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212662" y="5056213"/>
              <a:ext cx="4247770" cy="864610"/>
            </a:xfrm>
            <a:prstGeom prst="rect">
              <a:avLst/>
            </a:prstGeom>
            <a:solidFill>
              <a:schemeClr val="bg1"/>
            </a:solidFill>
            <a:ln cmpd="sng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dirty="0">
                  <a:solidFill>
                    <a:schemeClr val="tx1"/>
                  </a:solidFill>
                  <a:latin typeface="+mn-ea"/>
                </a:rPr>
                <a:t>옷장의 온 습도 관리 및 제습 제 관리</a:t>
              </a:r>
              <a:endParaRPr kumimoji="0" lang="en-US" altLang="ko-KR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dirty="0">
                  <a:solidFill>
                    <a:schemeClr val="tx1"/>
                  </a:solidFill>
                  <a:latin typeface="+mn-ea"/>
                </a:rPr>
                <a:t>곰팡이의 피해를  막을 수 있는 기능</a:t>
              </a:r>
            </a:p>
          </p:txBody>
        </p:sp>
        <p:pic>
          <p:nvPicPr>
            <p:cNvPr id="9231" name="Picture 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868144" y="1282874"/>
              <a:ext cx="1656184" cy="5040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5" name="내용 개체 틀 4"/>
          <p:cNvSpPr txBox="1">
            <a:spLocks/>
          </p:cNvSpPr>
          <p:nvPr/>
        </p:nvSpPr>
        <p:spPr>
          <a:xfrm>
            <a:off x="755650" y="1168400"/>
            <a:ext cx="8229600" cy="7477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kumimoji="0" lang="ko-KR" altLang="en-US" sz="1700" dirty="0">
                <a:latin typeface="+mn-ea"/>
                <a:ea typeface="+mn-ea"/>
              </a:rPr>
              <a:t>스마트 옷장  소개     스마트 옷장 시스템 구성     </a:t>
            </a:r>
            <a:r>
              <a:rPr kumimoji="0" lang="ko-KR" altLang="en-US" sz="1700" dirty="0">
                <a:solidFill>
                  <a:srgbClr val="FF0000"/>
                </a:solidFill>
                <a:latin typeface="+mn-ea"/>
                <a:ea typeface="+mn-ea"/>
              </a:rPr>
              <a:t>스마트 옷장 어플리케이션 기능    </a:t>
            </a: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2744AC-BFC4-4313-AFF6-A5B861FD3E4F}" type="slidenum">
              <a:rPr lang="ko-KR" altLang="en-US"/>
              <a:pPr>
                <a:defRPr/>
              </a:pPr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ko-KR" altLang="en-US" dirty="0">
                <a:latin typeface="+mn-ea"/>
                <a:ea typeface="+mn-ea"/>
              </a:rPr>
              <a:t>소개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4031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ko-KR" dirty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pic>
        <p:nvPicPr>
          <p:cNvPr id="1126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19475" y="1773238"/>
            <a:ext cx="240982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1773238"/>
            <a:ext cx="2362200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72225" y="1773238"/>
            <a:ext cx="2400300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오른쪽 화살표 17"/>
          <p:cNvSpPr/>
          <p:nvPr/>
        </p:nvSpPr>
        <p:spPr>
          <a:xfrm>
            <a:off x="3276600" y="4149725"/>
            <a:ext cx="2735263" cy="57467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372225" y="4508500"/>
            <a:ext cx="2016125" cy="1754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b="1" dirty="0">
                <a:latin typeface="+mn-ea"/>
                <a:ea typeface="+mn-ea"/>
              </a:rPr>
              <a:t>옷장에서 </a:t>
            </a:r>
            <a:endParaRPr kumimoji="0" lang="en-US" altLang="ko-KR" b="1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b="1" dirty="0">
                <a:latin typeface="+mn-ea"/>
                <a:ea typeface="+mn-ea"/>
              </a:rPr>
              <a:t>여름 의류 관리</a:t>
            </a:r>
            <a:endParaRPr kumimoji="0" lang="en-US" altLang="ko-KR" b="1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b="1" dirty="0">
                <a:latin typeface="+mn-ea"/>
                <a:ea typeface="+mn-ea"/>
              </a:rPr>
              <a:t>버튼을 클릭하면</a:t>
            </a:r>
            <a:endParaRPr kumimoji="0" lang="en-US" altLang="ko-KR" b="1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b="1" dirty="0">
                <a:latin typeface="+mn-ea"/>
                <a:ea typeface="+mn-ea"/>
              </a:rPr>
              <a:t>전체 목록에서 </a:t>
            </a:r>
            <a:endParaRPr kumimoji="0" lang="en-US" altLang="ko-KR" b="1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b="1" dirty="0">
                <a:latin typeface="+mn-ea"/>
                <a:ea typeface="+mn-ea"/>
              </a:rPr>
              <a:t>여름옷만 검색됨</a:t>
            </a:r>
            <a:endParaRPr kumimoji="0" lang="en-US" altLang="ko-KR" b="1" dirty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b="1" dirty="0">
                <a:latin typeface="+mn-ea"/>
                <a:ea typeface="+mn-ea"/>
              </a:rPr>
              <a:t>(</a:t>
            </a:r>
            <a:r>
              <a:rPr kumimoji="0" lang="ko-KR" altLang="en-US" b="1" dirty="0">
                <a:latin typeface="+mn-ea"/>
                <a:ea typeface="+mn-ea"/>
              </a:rPr>
              <a:t>다른 계절도</a:t>
            </a:r>
            <a:r>
              <a:rPr kumimoji="0" lang="en-US" altLang="ko-KR" b="1" dirty="0">
                <a:latin typeface="+mn-ea"/>
                <a:ea typeface="+mn-ea"/>
              </a:rPr>
              <a:t>)</a:t>
            </a:r>
          </a:p>
        </p:txBody>
      </p:sp>
      <p:sp>
        <p:nvSpPr>
          <p:cNvPr id="22" name="내용 개체 틀 4"/>
          <p:cNvSpPr txBox="1">
            <a:spLocks/>
          </p:cNvSpPr>
          <p:nvPr/>
        </p:nvSpPr>
        <p:spPr>
          <a:xfrm>
            <a:off x="755650" y="1168400"/>
            <a:ext cx="8229600" cy="7477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kumimoji="0" lang="ko-KR" altLang="en-US" sz="1700" dirty="0">
                <a:latin typeface="+mn-ea"/>
                <a:ea typeface="+mn-ea"/>
              </a:rPr>
              <a:t>스마트 옷장  소개     스마트 옷장 시스템 구성     </a:t>
            </a:r>
            <a:r>
              <a:rPr kumimoji="0" lang="ko-KR" altLang="en-US" sz="1700" dirty="0">
                <a:solidFill>
                  <a:srgbClr val="FF0000"/>
                </a:solidFill>
                <a:latin typeface="+mn-ea"/>
                <a:ea typeface="+mn-ea"/>
              </a:rPr>
              <a:t>스마트 옷장 어플리케이션 기능    </a:t>
            </a: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2BB9A-FA47-44D5-A7B7-353825C7C38E}" type="slidenum">
              <a:rPr lang="ko-KR" altLang="en-US"/>
              <a:pPr>
                <a:defRPr/>
              </a:pPr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ko-KR" altLang="en-US" dirty="0">
                <a:latin typeface="+mn-ea"/>
                <a:ea typeface="+mn-ea"/>
              </a:rPr>
              <a:t>소개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4031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altLang="ko-KR" dirty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grpSp>
        <p:nvGrpSpPr>
          <p:cNvPr id="12292" name="그룹 9"/>
          <p:cNvGrpSpPr>
            <a:grpSpLocks/>
          </p:cNvGrpSpPr>
          <p:nvPr/>
        </p:nvGrpSpPr>
        <p:grpSpPr bwMode="auto">
          <a:xfrm>
            <a:off x="395288" y="1484313"/>
            <a:ext cx="8401050" cy="5184775"/>
            <a:chOff x="24574" y="1412776"/>
            <a:chExt cx="9299954" cy="5445224"/>
          </a:xfrm>
        </p:grpSpPr>
        <p:pic>
          <p:nvPicPr>
            <p:cNvPr id="12295" name="Picture 6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131840" y="4149080"/>
              <a:ext cx="2409825" cy="2708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296" name="Picture 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574" y="1484784"/>
              <a:ext cx="2603210" cy="4672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297" name="Picture 9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691680" y="1484783"/>
              <a:ext cx="4752528" cy="2880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직사각형 13"/>
            <p:cNvSpPr/>
            <p:nvPr/>
          </p:nvSpPr>
          <p:spPr>
            <a:xfrm>
              <a:off x="35118" y="2708225"/>
              <a:ext cx="792569" cy="2881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/>
            </a:p>
          </p:txBody>
        </p:sp>
        <p:sp>
          <p:nvSpPr>
            <p:cNvPr id="12299" name="TextBox 19"/>
            <p:cNvSpPr txBox="1">
              <a:spLocks noChangeArrowheads="1"/>
            </p:cNvSpPr>
            <p:nvPr/>
          </p:nvSpPr>
          <p:spPr bwMode="auto">
            <a:xfrm>
              <a:off x="899592" y="4365104"/>
              <a:ext cx="1872208" cy="2424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0" lang="en-US" altLang="ko-KR" b="1">
                  <a:latin typeface="맑은 고딕" pitchFamily="50" charset="-127"/>
                  <a:ea typeface="맑은 고딕" pitchFamily="50" charset="-127"/>
                </a:rPr>
                <a:t>7</a:t>
              </a:r>
              <a:r>
                <a:rPr kumimoji="0" lang="ko-KR" altLang="en-US" b="1">
                  <a:latin typeface="맑은 고딕" pitchFamily="50" charset="-127"/>
                  <a:ea typeface="맑은 고딕" pitchFamily="50" charset="-127"/>
                </a:rPr>
                <a:t>가지 항목과</a:t>
              </a:r>
              <a:endParaRPr kumimoji="0" lang="en-US" altLang="ko-KR" b="1">
                <a:latin typeface="맑은 고딕" pitchFamily="50" charset="-127"/>
                <a:ea typeface="맑은 고딕" pitchFamily="50" charset="-127"/>
              </a:endParaRPr>
            </a:p>
            <a:p>
              <a:r>
                <a:rPr kumimoji="0" lang="ko-KR" altLang="en-US" b="1">
                  <a:latin typeface="맑은 고딕" pitchFamily="50" charset="-127"/>
                  <a:ea typeface="맑은 고딕" pitchFamily="50" charset="-127"/>
                </a:rPr>
                <a:t>의류 사진이</a:t>
              </a:r>
              <a:endParaRPr kumimoji="0" lang="en-US" altLang="ko-KR" b="1">
                <a:latin typeface="맑은 고딕" pitchFamily="50" charset="-127"/>
                <a:ea typeface="맑은 고딕" pitchFamily="50" charset="-127"/>
              </a:endParaRPr>
            </a:p>
            <a:p>
              <a:r>
                <a:rPr kumimoji="0" lang="ko-KR" altLang="en-US" b="1">
                  <a:latin typeface="맑은 고딕" pitchFamily="50" charset="-127"/>
                  <a:ea typeface="맑은 고딕" pitchFamily="50" charset="-127"/>
                </a:rPr>
                <a:t>데이터베이스</a:t>
              </a:r>
              <a:endParaRPr kumimoji="0" lang="en-US" altLang="ko-KR" b="1">
                <a:latin typeface="맑은 고딕" pitchFamily="50" charset="-127"/>
                <a:ea typeface="맑은 고딕" pitchFamily="50" charset="-127"/>
              </a:endParaRPr>
            </a:p>
            <a:p>
              <a:r>
                <a:rPr kumimoji="0" lang="ko-KR" altLang="en-US" b="1"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kumimoji="0" lang="en-US" altLang="ko-KR" b="1">
                  <a:latin typeface="맑은 고딕" pitchFamily="50" charset="-127"/>
                  <a:ea typeface="맑은 고딕" pitchFamily="50" charset="-127"/>
                </a:rPr>
                <a:t>(DDMS)</a:t>
              </a:r>
            </a:p>
            <a:p>
              <a:r>
                <a:rPr kumimoji="0" lang="ko-KR" altLang="en-US" b="1">
                  <a:latin typeface="맑은 고딕" pitchFamily="50" charset="-127"/>
                  <a:ea typeface="맑은 고딕" pitchFamily="50" charset="-127"/>
                </a:rPr>
                <a:t>에뮬레이터로 </a:t>
              </a:r>
              <a:endParaRPr kumimoji="0" lang="en-US" altLang="ko-KR" b="1">
                <a:latin typeface="맑은 고딕" pitchFamily="50" charset="-127"/>
                <a:ea typeface="맑은 고딕" pitchFamily="50" charset="-127"/>
              </a:endParaRPr>
            </a:p>
            <a:p>
              <a:endParaRPr kumimoji="0" lang="en-US" altLang="ko-KR" b="1">
                <a:latin typeface="맑은 고딕" pitchFamily="50" charset="-127"/>
                <a:ea typeface="맑은 고딕" pitchFamily="50" charset="-127"/>
              </a:endParaRPr>
            </a:p>
            <a:p>
              <a:r>
                <a:rPr kumimoji="0" lang="en-US" altLang="ko-KR" b="1">
                  <a:latin typeface="맑은 고딕" pitchFamily="50" charset="-127"/>
                  <a:ea typeface="맑은 고딕" pitchFamily="50" charset="-127"/>
                </a:rPr>
                <a:t>    DB</a:t>
              </a:r>
              <a:r>
                <a:rPr kumimoji="0" lang="ko-KR" altLang="en-US" b="1">
                  <a:latin typeface="맑은 고딕" pitchFamily="50" charset="-127"/>
                  <a:ea typeface="맑은 고딕" pitchFamily="50" charset="-127"/>
                </a:rPr>
                <a:t>파일</a:t>
              </a:r>
              <a:endParaRPr kumimoji="0" lang="en-US" altLang="ko-KR" b="1">
                <a:latin typeface="맑은 고딕" pitchFamily="50" charset="-127"/>
                <a:ea typeface="맑은 고딕" pitchFamily="50" charset="-127"/>
              </a:endParaRPr>
            </a:p>
            <a:p>
              <a:r>
                <a:rPr kumimoji="0" lang="ko-KR" altLang="en-US" b="1">
                  <a:latin typeface="맑은 고딕" pitchFamily="50" charset="-127"/>
                  <a:ea typeface="맑은 고딕" pitchFamily="50" charset="-127"/>
                </a:rPr>
                <a:t>   관리 가능</a:t>
              </a:r>
              <a:endParaRPr kumimoji="0" lang="en-US" altLang="ko-KR" b="1"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12300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444208" y="1412776"/>
              <a:ext cx="2551733" cy="4616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직사각형 21"/>
            <p:cNvSpPr/>
            <p:nvPr/>
          </p:nvSpPr>
          <p:spPr>
            <a:xfrm>
              <a:off x="6804472" y="5300793"/>
              <a:ext cx="1799538" cy="7202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/>
            </a:p>
          </p:txBody>
        </p:sp>
        <p:sp>
          <p:nvSpPr>
            <p:cNvPr id="12302" name="TextBox 22"/>
            <p:cNvSpPr txBox="1">
              <a:spLocks noChangeArrowheads="1"/>
            </p:cNvSpPr>
            <p:nvPr/>
          </p:nvSpPr>
          <p:spPr bwMode="auto">
            <a:xfrm>
              <a:off x="6300192" y="6021288"/>
              <a:ext cx="3024336" cy="6788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0" lang="ko-KR" altLang="en-US" b="1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kumimoji="0" lang="ko-KR" altLang="en-US" b="1">
                  <a:latin typeface="맑은 고딕" pitchFamily="50" charset="-127"/>
                  <a:ea typeface="맑은 고딕" pitchFamily="50" charset="-127"/>
                </a:rPr>
                <a:t>의류 관련 정보보기와</a:t>
              </a:r>
              <a:endParaRPr kumimoji="0" lang="en-US" altLang="ko-KR" b="1">
                <a:latin typeface="맑은 고딕" pitchFamily="50" charset="-127"/>
                <a:ea typeface="맑은 고딕" pitchFamily="50" charset="-127"/>
              </a:endParaRPr>
            </a:p>
            <a:p>
              <a:r>
                <a:rPr kumimoji="0" lang="ko-KR" altLang="en-US" b="1">
                  <a:latin typeface="맑은 고딕" pitchFamily="50" charset="-127"/>
                  <a:ea typeface="맑은 고딕" pitchFamily="50" charset="-127"/>
                </a:rPr>
                <a:t>의류수정과 삭제도 가능</a:t>
              </a:r>
              <a:endParaRPr kumimoji="0" lang="en-US" altLang="ko-KR" b="1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아래쪽 화살표 23"/>
            <p:cNvSpPr/>
            <p:nvPr/>
          </p:nvSpPr>
          <p:spPr>
            <a:xfrm>
              <a:off x="5075229" y="4365467"/>
              <a:ext cx="288207" cy="86363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/>
            </a:p>
          </p:txBody>
        </p:sp>
      </p:grpSp>
      <p:sp>
        <p:nvSpPr>
          <p:cNvPr id="27" name="내용 개체 틀 4"/>
          <p:cNvSpPr txBox="1">
            <a:spLocks/>
          </p:cNvSpPr>
          <p:nvPr/>
        </p:nvSpPr>
        <p:spPr>
          <a:xfrm>
            <a:off x="755650" y="1168400"/>
            <a:ext cx="8229600" cy="7477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kumimoji="0" lang="ko-KR" altLang="en-US" sz="1700" dirty="0">
                <a:latin typeface="+mn-ea"/>
                <a:ea typeface="+mn-ea"/>
              </a:rPr>
              <a:t>스마트 옷장  소개     스마트 옷장 시스템 구성     </a:t>
            </a:r>
            <a:r>
              <a:rPr kumimoji="0" lang="ko-KR" altLang="en-US" sz="1700" dirty="0">
                <a:solidFill>
                  <a:srgbClr val="FF0000"/>
                </a:solidFill>
                <a:latin typeface="+mn-ea"/>
                <a:ea typeface="+mn-ea"/>
              </a:rPr>
              <a:t>스마트 옷장 어플리케이션 기능    </a:t>
            </a: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E95074-CA97-4E89-9651-6549F4648048}" type="slidenum">
              <a:rPr lang="ko-KR" altLang="en-US"/>
              <a:pPr>
                <a:defRPr/>
              </a:pPr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ko-KR" dirty="0">
                <a:latin typeface="+mn-ea"/>
              </a:rPr>
              <a:t>2.</a:t>
            </a:r>
            <a:r>
              <a:rPr lang="ko-KR" altLang="en-US" dirty="0">
                <a:latin typeface="+mn-ea"/>
              </a:rPr>
              <a:t>게임 프로젝트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프로그램 아카데미</a:t>
            </a:r>
            <a:r>
              <a:rPr lang="en-US" altLang="ko-KR" dirty="0">
                <a:latin typeface="+mn-ea"/>
              </a:rPr>
              <a:t>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8313" y="1341438"/>
            <a:ext cx="8229600" cy="452596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None/>
              <a:defRPr/>
            </a:pP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dirty="0" err="1">
                <a:latin typeface="+mn-ea"/>
              </a:rPr>
              <a:t>프로폴리오</a:t>
            </a:r>
            <a:r>
              <a:rPr lang="ko-KR" altLang="en-US" dirty="0">
                <a:latin typeface="+mn-ea"/>
              </a:rPr>
              <a:t> 작업 내용</a:t>
            </a: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dirty="0">
                <a:latin typeface="+mn-ea"/>
              </a:rPr>
              <a:t>코딩 스타일</a:t>
            </a:r>
            <a:endParaRPr lang="en-US" altLang="ko-KR" dirty="0">
              <a:latin typeface="+mn-ea"/>
            </a:endParaRPr>
          </a:p>
          <a:p>
            <a:pPr fontAlgn="auto">
              <a:spcAft>
                <a:spcPts val="0"/>
              </a:spcAft>
              <a:buNone/>
              <a:defRPr/>
            </a:pPr>
            <a:endParaRPr lang="en-US" altLang="ko-KR" dirty="0">
              <a:latin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A6CADF-226A-4357-86A9-511FBEC4DBB5}" type="slidenum">
              <a:rPr lang="ko-KR" altLang="en-US"/>
              <a:pPr>
                <a:defRPr/>
              </a:pPr>
              <a:t>9</a:t>
            </a:fld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 fontAlgn="auto">
              <a:spcAft>
                <a:spcPts val="0"/>
              </a:spcAft>
              <a:defRPr/>
            </a:pPr>
            <a:r>
              <a:rPr kumimoji="0" lang="ko-KR" altLang="en-US" sz="4000" b="1" dirty="0"/>
              <a:t>포트폴리오 작업 내용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928802"/>
            <a:ext cx="5550161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398" y="2786058"/>
            <a:ext cx="5643602" cy="3613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제목 1"/>
          <p:cNvSpPr txBox="1">
            <a:spLocks/>
          </p:cNvSpPr>
          <p:nvPr/>
        </p:nvSpPr>
        <p:spPr>
          <a:xfrm>
            <a:off x="285720" y="1285860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altLang="ko-KR" sz="2000" b="1" dirty="0">
                <a:latin typeface="+mj-lt"/>
                <a:ea typeface="+mj-ea"/>
                <a:cs typeface="+mj-cs"/>
              </a:rPr>
              <a:t>C++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객체 지향을 이용한 </a:t>
            </a:r>
            <a:r>
              <a:rPr lang="ko-KR" altLang="en-US" sz="2000" b="1" dirty="0" err="1">
                <a:latin typeface="+mj-lt"/>
                <a:ea typeface="+mj-ea"/>
                <a:cs typeface="+mj-cs"/>
              </a:rPr>
              <a:t>인베이더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 게임 만들기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857364"/>
            <a:ext cx="5097350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-142908" y="1214422"/>
            <a:ext cx="6715172" cy="642942"/>
          </a:xfrm>
        </p:spPr>
        <p:txBody>
          <a:bodyPr>
            <a:normAutofit/>
          </a:bodyPr>
          <a:lstStyle/>
          <a:p>
            <a:r>
              <a:rPr lang="en-US" altLang="ko-KR" sz="2000" b="1" dirty="0"/>
              <a:t>2D</a:t>
            </a:r>
            <a:r>
              <a:rPr lang="ko-KR" altLang="en-US" sz="2000" b="1" dirty="0"/>
              <a:t>게임 </a:t>
            </a:r>
            <a:r>
              <a:rPr lang="en-US" altLang="ko-KR" sz="2000" b="1" dirty="0"/>
              <a:t>- TCP </a:t>
            </a:r>
            <a:r>
              <a:rPr lang="ko-KR" altLang="en-US" sz="2000" b="1" dirty="0"/>
              <a:t>파이터 서버와 클라이언트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1714488"/>
            <a:ext cx="4000528" cy="4631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4500570"/>
            <a:ext cx="4647774" cy="1680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-785850" y="1214422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>
                <a:latin typeface="+mj-lt"/>
                <a:ea typeface="+mj-ea"/>
                <a:cs typeface="+mj-cs"/>
              </a:rPr>
              <a:t>서버 모니터링 </a:t>
            </a:r>
            <a:r>
              <a:rPr lang="ko-KR" altLang="en-US" sz="2000" b="1" dirty="0" err="1">
                <a:latin typeface="+mj-lt"/>
                <a:ea typeface="+mj-ea"/>
                <a:cs typeface="+mj-cs"/>
              </a:rPr>
              <a:t>뷰어차트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714348" y="1857364"/>
            <a:ext cx="7715304" cy="4214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just">
              <a:spcBef>
                <a:spcPct val="0"/>
              </a:spcBef>
            </a:pPr>
            <a:r>
              <a:rPr lang="ko-KR" altLang="en-US" sz="2000" b="1" dirty="0"/>
              <a:t>서버 모니터링 </a:t>
            </a:r>
            <a:r>
              <a:rPr lang="ko-KR" altLang="en-US" sz="2000" b="1" dirty="0" err="1"/>
              <a:t>뷰어차트</a:t>
            </a:r>
            <a:endParaRPr lang="en-US" altLang="ko-KR" sz="2000" b="1" dirty="0"/>
          </a:p>
          <a:p>
            <a:pPr lvl="0" algn="just">
              <a:spcBef>
                <a:spcPct val="0"/>
              </a:spcBef>
            </a:pPr>
            <a:endParaRPr lang="en-US" altLang="ko-KR" sz="2000" b="1" dirty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b="1" dirty="0">
                <a:latin typeface="+mj-lt"/>
                <a:ea typeface="+mj-ea"/>
                <a:cs typeface="+mj-cs"/>
              </a:rPr>
              <a:t> 1. </a:t>
            </a:r>
            <a:r>
              <a:rPr lang="ko-KR" altLang="en-US" b="1" dirty="0">
                <a:latin typeface="+mj-lt"/>
                <a:ea typeface="+mj-ea"/>
                <a:cs typeface="+mj-cs"/>
              </a:rPr>
              <a:t>윈도우 </a:t>
            </a:r>
            <a:r>
              <a:rPr lang="en-US" altLang="ko-KR" b="1" dirty="0">
                <a:latin typeface="+mj-lt"/>
                <a:ea typeface="+mj-ea"/>
                <a:cs typeface="+mj-cs"/>
              </a:rPr>
              <a:t>API </a:t>
            </a:r>
            <a:r>
              <a:rPr lang="ko-KR" altLang="en-US" b="1" dirty="0">
                <a:latin typeface="+mj-lt"/>
                <a:ea typeface="+mj-ea"/>
                <a:cs typeface="+mj-cs"/>
              </a:rPr>
              <a:t>이용</a:t>
            </a:r>
            <a:endParaRPr lang="en-US" altLang="ko-KR" b="1" dirty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endParaRPr lang="en-US" altLang="ko-KR" b="1" dirty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b="1" dirty="0">
                <a:latin typeface="+mj-lt"/>
                <a:ea typeface="+mj-ea"/>
                <a:cs typeface="+mj-cs"/>
              </a:rPr>
              <a:t> 2. </a:t>
            </a:r>
            <a:r>
              <a:rPr lang="ko-KR" altLang="en-US" b="1" dirty="0">
                <a:latin typeface="+mj-lt"/>
                <a:ea typeface="+mj-ea"/>
                <a:cs typeface="+mj-cs"/>
              </a:rPr>
              <a:t>큐 이용</a:t>
            </a:r>
            <a:endParaRPr lang="en-US" altLang="ko-KR" b="1" dirty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endParaRPr lang="en-US" altLang="ko-KR" b="1" dirty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b="1" dirty="0">
                <a:latin typeface="+mj-lt"/>
                <a:ea typeface="+mj-ea"/>
                <a:cs typeface="+mj-cs"/>
              </a:rPr>
              <a:t> 3. </a:t>
            </a:r>
            <a:r>
              <a:rPr lang="ko-KR" altLang="en-US" b="1" dirty="0">
                <a:latin typeface="+mj-lt"/>
                <a:ea typeface="+mj-ea"/>
                <a:cs typeface="+mj-cs"/>
              </a:rPr>
              <a:t>서버 모니터링을 하기 위한 그래프 작업</a:t>
            </a:r>
            <a:endParaRPr lang="en-US" altLang="ko-KR" b="1" dirty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endParaRPr lang="en-US" altLang="ko-KR" b="1" dirty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b="1" dirty="0">
                <a:latin typeface="+mj-lt"/>
                <a:ea typeface="+mj-ea"/>
                <a:cs typeface="+mj-cs"/>
              </a:rPr>
              <a:t> 4. </a:t>
            </a:r>
            <a:r>
              <a:rPr lang="ko-KR" altLang="en-US" b="1" dirty="0">
                <a:latin typeface="+mj-lt"/>
                <a:ea typeface="+mj-ea"/>
                <a:cs typeface="+mj-cs"/>
              </a:rPr>
              <a:t>일정 수준이 넘으면 </a:t>
            </a:r>
            <a:r>
              <a:rPr lang="ko-KR" altLang="en-US" b="1" dirty="0" err="1">
                <a:latin typeface="+mj-lt"/>
                <a:ea typeface="+mj-ea"/>
                <a:cs typeface="+mj-cs"/>
              </a:rPr>
              <a:t>소리나게</a:t>
            </a:r>
            <a:r>
              <a:rPr lang="ko-KR" altLang="en-US" b="1" dirty="0">
                <a:latin typeface="+mj-lt"/>
                <a:ea typeface="+mj-ea"/>
                <a:cs typeface="+mj-cs"/>
              </a:rPr>
              <a:t> 함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1857364"/>
            <a:ext cx="433387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00364" y="5500702"/>
            <a:ext cx="1928826" cy="1071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ChatServer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928926" y="3143248"/>
            <a:ext cx="1928826" cy="1071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GameServer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원통 13"/>
          <p:cNvSpPr/>
          <p:nvPr/>
        </p:nvSpPr>
        <p:spPr>
          <a:xfrm>
            <a:off x="3000364" y="1928802"/>
            <a:ext cx="1643074" cy="785818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00034" y="4143380"/>
            <a:ext cx="1928826" cy="1071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LoginServer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429256" y="3143248"/>
            <a:ext cx="1928826" cy="1071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 err="1">
                <a:solidFill>
                  <a:schemeClr val="tx1"/>
                </a:solidFill>
              </a:rPr>
              <a:t>MonitoringServer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500694" y="5500702"/>
            <a:ext cx="1928826" cy="1071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AgentServer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연결선 20"/>
          <p:cNvCxnSpPr>
            <a:stCxn id="14" idx="3"/>
            <a:endCxn id="16" idx="0"/>
          </p:cNvCxnSpPr>
          <p:nvPr/>
        </p:nvCxnSpPr>
        <p:spPr>
          <a:xfrm rot="5400000">
            <a:off x="1928794" y="2250273"/>
            <a:ext cx="1428760" cy="235745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stCxn id="14" idx="3"/>
            <a:endCxn id="13" idx="0"/>
          </p:cNvCxnSpPr>
          <p:nvPr/>
        </p:nvCxnSpPr>
        <p:spPr>
          <a:xfrm rot="16200000" flipH="1">
            <a:off x="3643306" y="2893215"/>
            <a:ext cx="428628" cy="714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13" idx="1"/>
            <a:endCxn id="16" idx="3"/>
          </p:cNvCxnSpPr>
          <p:nvPr/>
        </p:nvCxnSpPr>
        <p:spPr>
          <a:xfrm rot="10800000" flipV="1">
            <a:off x="2428860" y="3679033"/>
            <a:ext cx="500066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16" idx="3"/>
            <a:endCxn id="6" idx="1"/>
          </p:cNvCxnSpPr>
          <p:nvPr/>
        </p:nvCxnSpPr>
        <p:spPr>
          <a:xfrm>
            <a:off x="2428860" y="4679165"/>
            <a:ext cx="571504" cy="1357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>
            <a:stCxn id="13" idx="3"/>
            <a:endCxn id="17" idx="1"/>
          </p:cNvCxnSpPr>
          <p:nvPr/>
        </p:nvCxnSpPr>
        <p:spPr>
          <a:xfrm>
            <a:off x="4857752" y="3679033"/>
            <a:ext cx="571504" cy="158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직선 연결선 31"/>
          <p:cNvCxnSpPr>
            <a:stCxn id="17" idx="1"/>
            <a:endCxn id="6" idx="3"/>
          </p:cNvCxnSpPr>
          <p:nvPr/>
        </p:nvCxnSpPr>
        <p:spPr>
          <a:xfrm rot="10800000" flipV="1">
            <a:off x="4929190" y="3679033"/>
            <a:ext cx="500066" cy="2357454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5429256" y="1785926"/>
            <a:ext cx="1928826" cy="1071570"/>
          </a:xfrm>
          <a:prstGeom prst="rect">
            <a:avLst/>
          </a:prstGeom>
          <a:solidFill>
            <a:schemeClr val="bg1"/>
          </a:solidFill>
          <a:ln w="508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chemeClr val="tx1"/>
                </a:solidFill>
              </a:rPr>
              <a:t>Monitoring</a:t>
            </a:r>
          </a:p>
          <a:p>
            <a:pPr algn="ctr"/>
            <a:r>
              <a:rPr lang="en-US" altLang="ko-KR" sz="1700" dirty="0">
                <a:solidFill>
                  <a:schemeClr val="tx1"/>
                </a:solidFill>
              </a:rPr>
              <a:t>Client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cxnSp>
        <p:nvCxnSpPr>
          <p:cNvPr id="42" name="직선 연결선 41"/>
          <p:cNvCxnSpPr>
            <a:stCxn id="40" idx="2"/>
            <a:endCxn id="17" idx="0"/>
          </p:cNvCxnSpPr>
          <p:nvPr/>
        </p:nvCxnSpPr>
        <p:spPr>
          <a:xfrm rot="5400000">
            <a:off x="6250793" y="3000372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>
            <a:stCxn id="13" idx="2"/>
            <a:endCxn id="19" idx="0"/>
          </p:cNvCxnSpPr>
          <p:nvPr/>
        </p:nvCxnSpPr>
        <p:spPr>
          <a:xfrm rot="16200000" flipH="1">
            <a:off x="4536281" y="3571876"/>
            <a:ext cx="1285884" cy="257176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직선 연결선 45"/>
          <p:cNvCxnSpPr>
            <a:stCxn id="6" idx="3"/>
            <a:endCxn id="19" idx="0"/>
          </p:cNvCxnSpPr>
          <p:nvPr/>
        </p:nvCxnSpPr>
        <p:spPr>
          <a:xfrm flipV="1">
            <a:off x="4929190" y="5500702"/>
            <a:ext cx="1535917" cy="53578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" name="타원 46"/>
          <p:cNvSpPr/>
          <p:nvPr/>
        </p:nvSpPr>
        <p:spPr>
          <a:xfrm>
            <a:off x="285720" y="2428868"/>
            <a:ext cx="2000264" cy="12144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GAME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Client</a:t>
            </a:r>
          </a:p>
        </p:txBody>
      </p:sp>
      <p:sp>
        <p:nvSpPr>
          <p:cNvPr id="49" name="제목 1"/>
          <p:cNvSpPr txBox="1">
            <a:spLocks/>
          </p:cNvSpPr>
          <p:nvPr/>
        </p:nvSpPr>
        <p:spPr>
          <a:xfrm>
            <a:off x="-285784" y="1214422"/>
            <a:ext cx="850112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 err="1">
                <a:latin typeface="+mj-lt"/>
                <a:ea typeface="+mj-ea"/>
                <a:cs typeface="+mj-cs"/>
              </a:rPr>
              <a:t>유니티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 액션 게임 게임서버 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채팅서버  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IOCP 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이용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,DB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-285784" y="1214422"/>
            <a:ext cx="850112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 err="1">
                <a:latin typeface="+mj-lt"/>
                <a:ea typeface="+mj-ea"/>
                <a:cs typeface="+mj-cs"/>
              </a:rPr>
              <a:t>유니티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 액션 게임 게임서버 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채팅서버  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IOCP 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이용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,DB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785926"/>
            <a:ext cx="7572428" cy="4159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2714612" y="6000768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 err="1">
                <a:latin typeface="+mj-lt"/>
                <a:ea typeface="+mj-ea"/>
                <a:cs typeface="+mj-cs"/>
              </a:rPr>
              <a:t>유니티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 액션 게임 클라이언트 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28860" y="3571876"/>
            <a:ext cx="1928826" cy="1785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2078331" cy="4724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5" y="1857364"/>
            <a:ext cx="6861483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제목 1"/>
          <p:cNvSpPr txBox="1">
            <a:spLocks/>
          </p:cNvSpPr>
          <p:nvPr/>
        </p:nvSpPr>
        <p:spPr>
          <a:xfrm>
            <a:off x="2143108" y="6215058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altLang="ko-KR" sz="2000" b="1" dirty="0" err="1">
                <a:latin typeface="+mj-lt"/>
                <a:ea typeface="+mj-ea"/>
                <a:cs typeface="+mj-cs"/>
              </a:rPr>
              <a:t>MySQL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 DB 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구조와 모니터링 클라이언트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-285784" y="1214422"/>
            <a:ext cx="850112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 err="1">
                <a:latin typeface="+mj-lt"/>
                <a:ea typeface="+mj-ea"/>
                <a:cs typeface="+mj-cs"/>
              </a:rPr>
              <a:t>유니티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 액션 게임 게임서버 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채팅서버  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IOCP 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이용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,DB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-285784" y="1214422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 err="1">
                <a:latin typeface="+mj-lt"/>
                <a:ea typeface="+mj-ea"/>
                <a:cs typeface="+mj-cs"/>
              </a:rPr>
              <a:t>유니티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 액션 게임 게임서버 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>
                <a:latin typeface="+mj-lt"/>
                <a:ea typeface="+mj-ea"/>
                <a:cs typeface="+mj-cs"/>
              </a:rPr>
              <a:t>채팅서버 </a:t>
            </a:r>
            <a:r>
              <a:rPr lang="en-US" altLang="ko-KR" sz="2000" b="1" dirty="0">
                <a:latin typeface="+mj-lt"/>
                <a:ea typeface="+mj-ea"/>
                <a:cs typeface="+mj-cs"/>
              </a:rPr>
              <a:t>,DB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1000100" y="5929330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채팅 서버와 게임 서버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194686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500034" y="2142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코딩 스타일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142984"/>
            <a:ext cx="3534544" cy="5286412"/>
          </a:xfrm>
          <a:prstGeom prst="rect">
            <a:avLst/>
          </a:prstGeom>
          <a:noFill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1071546"/>
            <a:ext cx="3115273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9" name="직선 연결선 18"/>
          <p:cNvCxnSpPr/>
          <p:nvPr/>
        </p:nvCxnSpPr>
        <p:spPr>
          <a:xfrm>
            <a:off x="2357422" y="2000240"/>
            <a:ext cx="128588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rot="5400000">
            <a:off x="2072464" y="3571876"/>
            <a:ext cx="3142478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rot="10800000">
            <a:off x="2571736" y="5143512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428728" y="1857364"/>
            <a:ext cx="92869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1500166" y="5000636"/>
            <a:ext cx="1071570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2714612" y="2928934"/>
            <a:ext cx="1214446" cy="50006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상속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5500694" y="2000240"/>
            <a:ext cx="100013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5715008" y="2214554"/>
            <a:ext cx="100013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/>
          <p:cNvCxnSpPr/>
          <p:nvPr/>
        </p:nvCxnSpPr>
        <p:spPr>
          <a:xfrm>
            <a:off x="6500826" y="2071678"/>
            <a:ext cx="128588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rot="5400000">
            <a:off x="7608909" y="2250273"/>
            <a:ext cx="35639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6715140" y="2428868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/>
          <p:cNvSpPr/>
          <p:nvPr/>
        </p:nvSpPr>
        <p:spPr>
          <a:xfrm>
            <a:off x="7572396" y="2000240"/>
            <a:ext cx="1214446" cy="50006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500034" y="2142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코딩 스타일</a:t>
            </a:r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181785"/>
            <a:ext cx="6072230" cy="5676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모서리가 둥근 직사각형 21"/>
          <p:cNvSpPr/>
          <p:nvPr/>
        </p:nvSpPr>
        <p:spPr>
          <a:xfrm>
            <a:off x="5000628" y="5357826"/>
            <a:ext cx="3714776" cy="71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 </a:t>
            </a:r>
            <a:r>
              <a:rPr lang="ko-KR" altLang="en-US" dirty="0" err="1">
                <a:solidFill>
                  <a:schemeClr val="tx1"/>
                </a:solidFill>
              </a:rPr>
              <a:t>스레드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Event </a:t>
            </a:r>
            <a:r>
              <a:rPr lang="ko-KR" altLang="en-US" dirty="0">
                <a:solidFill>
                  <a:schemeClr val="tx1"/>
                </a:solidFill>
              </a:rPr>
              <a:t>방식으로 구현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500034" y="2142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코딩 스타일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142984"/>
            <a:ext cx="4643438" cy="5366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1142984"/>
            <a:ext cx="4276725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모서리가 둥근 직사각형 7"/>
          <p:cNvSpPr/>
          <p:nvPr/>
        </p:nvSpPr>
        <p:spPr>
          <a:xfrm>
            <a:off x="4714876" y="357166"/>
            <a:ext cx="3714776" cy="71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각각 함수를 </a:t>
            </a:r>
            <a:r>
              <a:rPr lang="ko-KR" altLang="en-US" dirty="0" err="1">
                <a:solidFill>
                  <a:schemeClr val="tx1"/>
                </a:solidFill>
              </a:rPr>
              <a:t>패킷화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1725" y="1000108"/>
            <a:ext cx="4502275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500034" y="2142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코딩 스타일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4581525" cy="552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모서리가 둥근 직사각형 7"/>
          <p:cNvSpPr/>
          <p:nvPr/>
        </p:nvSpPr>
        <p:spPr>
          <a:xfrm>
            <a:off x="4714876" y="5786454"/>
            <a:ext cx="3714776" cy="71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클래스 상속 및 가상함수 이용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87675" y="2924175"/>
            <a:ext cx="3024188" cy="1143000"/>
          </a:xfrm>
        </p:spPr>
        <p:txBody>
          <a:bodyPr rtlCol="0">
            <a:normAutofit fontScale="90000"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altLang="ko-KR" dirty="0">
                <a:latin typeface="+mn-ea"/>
                <a:ea typeface="+mn-ea"/>
              </a:rPr>
              <a:t>    Q&amp;A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감사합니다</a:t>
            </a:r>
            <a:r>
              <a:rPr lang="en-US" altLang="ko-KR" dirty="0">
                <a:latin typeface="+mn-ea"/>
                <a:ea typeface="+mn-ea"/>
              </a:rPr>
              <a:t>.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99D147-FE0C-4EAE-8BE1-3305743A0BC4}" type="slidenum">
              <a:rPr lang="ko-KR" altLang="en-US"/>
              <a:pPr>
                <a:defRPr/>
              </a:pPr>
              <a:t>21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412</Words>
  <Application>Microsoft Office PowerPoint</Application>
  <PresentationFormat>화면 슬라이드 쇼(4:3)</PresentationFormat>
  <Paragraphs>149</Paragraphs>
  <Slides>21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Adobe 고딕 Std B</vt:lpstr>
      <vt:lpstr>HY헤드라인M</vt:lpstr>
      <vt:lpstr>굴림</vt:lpstr>
      <vt:lpstr>맑은 고딕</vt:lpstr>
      <vt:lpstr>Arial</vt:lpstr>
      <vt:lpstr>Office 테마</vt:lpstr>
      <vt:lpstr>IT 역량 포트폴리오</vt:lpstr>
      <vt:lpstr>포트폴리오 목차</vt:lpstr>
      <vt:lpstr>1. 스마트 옷장 목차</vt:lpstr>
      <vt:lpstr>개발 배경</vt:lpstr>
      <vt:lpstr>소개</vt:lpstr>
      <vt:lpstr>소개</vt:lpstr>
      <vt:lpstr>소개</vt:lpstr>
      <vt:lpstr>소개</vt:lpstr>
      <vt:lpstr>2.게임 프로젝트(프로그램 아카데미)</vt:lpstr>
      <vt:lpstr>PowerPoint 프레젠테이션</vt:lpstr>
      <vt:lpstr>2D게임 - TCP 파이터 서버와 클라이언트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   Q&amp;A 감사합니다.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역량 Presentation</dc:title>
  <dc:creator>Microsoft Corporation</dc:creator>
  <cp:lastModifiedBy>parkheonil</cp:lastModifiedBy>
  <cp:revision>80</cp:revision>
  <dcterms:created xsi:type="dcterms:W3CDTF">2006-10-05T04:04:58Z</dcterms:created>
  <dcterms:modified xsi:type="dcterms:W3CDTF">2018-09-07T06:42:02Z</dcterms:modified>
</cp:coreProperties>
</file>